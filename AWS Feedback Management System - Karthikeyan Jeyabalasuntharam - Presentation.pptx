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60" r:id="rId6"/>
    <p:sldId id="258" r:id="rId7"/>
    <p:sldId id="257" r:id="rId8"/>
    <p:sldId id="286" r:id="rId9"/>
    <p:sldId id="261" r:id="rId10"/>
    <p:sldId id="287" r:id="rId11"/>
    <p:sldId id="288" r:id="rId12"/>
    <p:sldId id="289" r:id="rId13"/>
    <p:sldId id="290" r:id="rId14"/>
    <p:sldId id="284" r:id="rId15"/>
    <p:sldId id="292" r:id="rId16"/>
    <p:sldId id="293" r:id="rId17"/>
    <p:sldId id="294" r:id="rId18"/>
    <p:sldId id="269" r:id="rId19"/>
    <p:sldId id="29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>
        <p:scale>
          <a:sx n="70" d="100"/>
          <a:sy n="70" d="100"/>
        </p:scale>
        <p:origin x="1166" y="22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8/14/2025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17642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1892808"/>
            <a:ext cx="8311794" cy="1243584"/>
          </a:xfrm>
        </p:spPr>
        <p:txBody>
          <a:bodyPr/>
          <a:lstStyle/>
          <a:p>
            <a:r>
              <a:rPr lang="en-US" sz="4800" dirty="0"/>
              <a:t>AWS Feedback Management System - </a:t>
            </a:r>
            <a:r>
              <a:rPr lang="en-US" sz="4800" dirty="0" err="1"/>
              <a:t>CloudZen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608592"/>
            <a:ext cx="7077456" cy="8686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Karthikeyan Jeyabalasuntharam</a:t>
            </a:r>
          </a:p>
          <a:p>
            <a:pPr marL="0" indent="0">
              <a:buNone/>
            </a:pPr>
            <a:r>
              <a:rPr lang="en-US" dirty="0"/>
              <a:t>Student ID: 101490708</a:t>
            </a:r>
          </a:p>
          <a:p>
            <a:pPr marL="0" indent="0">
              <a:buNone/>
            </a:pPr>
            <a:r>
              <a:rPr lang="en-US" dirty="0"/>
              <a:t>Cloud Computing Technologies (T465)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112178"/>
            <a:ext cx="7781544" cy="859055"/>
          </a:xfrm>
        </p:spPr>
        <p:txBody>
          <a:bodyPr/>
          <a:lstStyle/>
          <a:p>
            <a:r>
              <a:rPr lang="en-US" dirty="0"/>
              <a:t>Table of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083598"/>
            <a:ext cx="6803136" cy="42314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Introduction</a:t>
            </a:r>
            <a:br>
              <a:rPr lang="en-US" dirty="0"/>
            </a:br>
            <a:r>
              <a:rPr lang="en-US" dirty="0"/>
              <a:t>Architecture Diagrams</a:t>
            </a:r>
            <a:br>
              <a:rPr lang="en-US" dirty="0"/>
            </a:br>
            <a:r>
              <a:rPr lang="en-US" dirty="0"/>
              <a:t>AWS Resources Used</a:t>
            </a:r>
            <a:br>
              <a:rPr lang="en-US" dirty="0"/>
            </a:br>
            <a:r>
              <a:rPr lang="en-US" dirty="0"/>
              <a:t>Networking &amp; Security</a:t>
            </a:r>
            <a:br>
              <a:rPr lang="en-US" dirty="0"/>
            </a:br>
            <a:r>
              <a:rPr lang="en-US" dirty="0"/>
              <a:t>Auto Scaling &amp; Load Balancing</a:t>
            </a:r>
            <a:br>
              <a:rPr lang="en-US" dirty="0"/>
            </a:br>
            <a:r>
              <a:rPr lang="en-US" dirty="0"/>
              <a:t>AWS Comprehend &amp; </a:t>
            </a:r>
            <a:r>
              <a:rPr lang="en-US" dirty="0" err="1"/>
              <a:t>QuickSight</a:t>
            </a:r>
            <a:br>
              <a:rPr lang="en-US" dirty="0"/>
            </a:br>
            <a:r>
              <a:rPr lang="en-US" dirty="0"/>
              <a:t>Monitoring &amp; Alerts</a:t>
            </a:r>
            <a:br>
              <a:rPr lang="en-US" dirty="0"/>
            </a:br>
            <a:r>
              <a:rPr lang="en-US" dirty="0"/>
              <a:t>Live Demo</a:t>
            </a:r>
            <a:br>
              <a:rPr lang="en-US" dirty="0"/>
            </a:b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625385"/>
            <a:ext cx="10620767" cy="409324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AWS Feedback Management System is a multi-tier web application hosted entirely on AWS.</a:t>
            </a:r>
          </a:p>
          <a:p>
            <a:pPr>
              <a:lnSpc>
                <a:spcPct val="150000"/>
              </a:lnSpc>
            </a:pPr>
            <a:r>
              <a:rPr lang="en-US" dirty="0"/>
              <a:t>Designed to collect, process, and analyze user feedback in real time.</a:t>
            </a:r>
          </a:p>
          <a:p>
            <a:pPr>
              <a:lnSpc>
                <a:spcPct val="150000"/>
              </a:lnSpc>
            </a:pPr>
            <a:r>
              <a:rPr lang="en-US" dirty="0"/>
              <a:t>Integrated with AWS Comprehend for automated sentiment analysis.</a:t>
            </a:r>
          </a:p>
          <a:p>
            <a:pPr>
              <a:lnSpc>
                <a:spcPct val="150000"/>
              </a:lnSpc>
            </a:pPr>
            <a:r>
              <a:rPr lang="en-US" dirty="0"/>
              <a:t>Implements Auto Scaling to maintain performance and reduce costs during low traffic.</a:t>
            </a:r>
          </a:p>
          <a:p>
            <a:pPr>
              <a:lnSpc>
                <a:spcPct val="150000"/>
              </a:lnSpc>
            </a:pPr>
            <a:r>
              <a:rPr lang="en-US" dirty="0"/>
              <a:t>Securely processes and stores feedback data in Amazon RDS.</a:t>
            </a:r>
          </a:p>
          <a:p>
            <a:pPr>
              <a:lnSpc>
                <a:spcPct val="150000"/>
              </a:lnSpc>
            </a:pPr>
            <a:r>
              <a:rPr lang="en-US" dirty="0"/>
              <a:t>Scales resources automatically based on demand.</a:t>
            </a:r>
          </a:p>
          <a:p>
            <a:pPr>
              <a:lnSpc>
                <a:spcPct val="150000"/>
              </a:lnSpc>
            </a:pPr>
            <a:r>
              <a:rPr lang="en-US" dirty="0"/>
              <a:t>Ensures high availability through multi-AZ deployment.</a:t>
            </a:r>
          </a:p>
          <a:p>
            <a:pPr>
              <a:lnSpc>
                <a:spcPct val="150000"/>
              </a:lnSpc>
            </a:pPr>
            <a:r>
              <a:rPr lang="en-US" dirty="0"/>
              <a:t>Monitors and alerts using Amazon CloudWatch and SNS for quick issue response.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2000" y="259423"/>
            <a:ext cx="7781544" cy="859055"/>
          </a:xfrm>
        </p:spPr>
        <p:txBody>
          <a:bodyPr/>
          <a:lstStyle/>
          <a:p>
            <a:r>
              <a:rPr lang="en-US" dirty="0"/>
              <a:t>Architecture Diagram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BBE4DF-76EE-1492-BBF0-3C25F8186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9931" y="1118478"/>
            <a:ext cx="6803136" cy="365760"/>
          </a:xfrm>
        </p:spPr>
        <p:txBody>
          <a:bodyPr/>
          <a:lstStyle/>
          <a:p>
            <a:r>
              <a:rPr lang="en-US" dirty="0"/>
              <a:t>Group Diagram</a:t>
            </a:r>
            <a:endParaRPr lang="en-CA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F594E6-A0D0-11BD-73E1-F15467E3D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797" y="1414216"/>
            <a:ext cx="5988406" cy="519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00D4D-66DB-5EAB-4922-1A72128DA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D28D8B-71DE-34D2-A279-FE63C1577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2000" y="259423"/>
            <a:ext cx="7781544" cy="859055"/>
          </a:xfrm>
        </p:spPr>
        <p:txBody>
          <a:bodyPr/>
          <a:lstStyle/>
          <a:p>
            <a:r>
              <a:rPr lang="en-US" dirty="0"/>
              <a:t>Architecture Diagram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CA731B-D00B-CF67-3D05-C29B131F1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BC0ACF-3C9D-9C01-AEC0-8E8173769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9931" y="1118478"/>
            <a:ext cx="6803136" cy="365760"/>
          </a:xfrm>
        </p:spPr>
        <p:txBody>
          <a:bodyPr/>
          <a:lstStyle/>
          <a:p>
            <a:r>
              <a:rPr lang="en-US" dirty="0"/>
              <a:t>Individual Diagram</a:t>
            </a:r>
            <a:endParaRPr lang="en-CA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477459-D9B8-112A-585B-5A2E2217C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217" y="1451378"/>
            <a:ext cx="6129566" cy="522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697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Resources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356009" y="1394029"/>
            <a:ext cx="10688709" cy="467799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</a:pPr>
            <a:r>
              <a:rPr lang="en-US" sz="1700" b="1" dirty="0"/>
              <a:t>Amazon Route 53</a:t>
            </a:r>
            <a:r>
              <a:rPr lang="en-US" sz="1700" dirty="0"/>
              <a:t> – Manages domain name resolution, allowing users to access the system via a friendly URL.</a:t>
            </a:r>
          </a:p>
          <a:p>
            <a:pPr>
              <a:lnSpc>
                <a:spcPct val="170000"/>
              </a:lnSpc>
            </a:pPr>
            <a:r>
              <a:rPr lang="en-US" sz="1700" b="1" dirty="0"/>
              <a:t>Internet Gateway</a:t>
            </a:r>
            <a:r>
              <a:rPr lang="en-US" sz="1700" dirty="0"/>
              <a:t> – Provides internet access for public-facing resources like web servers.</a:t>
            </a:r>
          </a:p>
          <a:p>
            <a:pPr>
              <a:lnSpc>
                <a:spcPct val="170000"/>
              </a:lnSpc>
            </a:pPr>
            <a:r>
              <a:rPr lang="en-US" sz="1700" b="1" dirty="0"/>
              <a:t>NAT Gateways</a:t>
            </a:r>
            <a:r>
              <a:rPr lang="en-US" sz="1700" dirty="0"/>
              <a:t> – Allow private resources (application servers, database) to access the internet for updates without being publicly exposed.</a:t>
            </a:r>
          </a:p>
          <a:p>
            <a:pPr>
              <a:lnSpc>
                <a:spcPct val="170000"/>
              </a:lnSpc>
            </a:pPr>
            <a:r>
              <a:rPr lang="en-US" sz="1700" b="1" dirty="0"/>
              <a:t>Application Load Balancers</a:t>
            </a:r>
            <a:r>
              <a:rPr lang="en-US" sz="1700" dirty="0"/>
              <a:t> – One internet facing ALB for the web tier and one internal ALB for the app tier to distribute traffic securely and perform health checks.</a:t>
            </a:r>
          </a:p>
          <a:p>
            <a:pPr>
              <a:lnSpc>
                <a:spcPct val="170000"/>
              </a:lnSpc>
            </a:pPr>
            <a:r>
              <a:rPr lang="en-US" sz="1700" b="1" dirty="0"/>
              <a:t>Amazon EC2</a:t>
            </a:r>
            <a:r>
              <a:rPr lang="en-US" sz="1700" dirty="0"/>
              <a:t> – Hosts the web frontend (Apache) and application backend (Flask).</a:t>
            </a:r>
          </a:p>
          <a:p>
            <a:pPr>
              <a:lnSpc>
                <a:spcPct val="170000"/>
              </a:lnSpc>
            </a:pPr>
            <a:r>
              <a:rPr lang="en-US" sz="1700" b="1" dirty="0"/>
              <a:t>Amazon RDS (MySQL)</a:t>
            </a:r>
            <a:r>
              <a:rPr lang="en-US" sz="1700" dirty="0"/>
              <a:t> – Stores feedback data and sentiment analysis results securely.</a:t>
            </a:r>
          </a:p>
          <a:p>
            <a:pPr>
              <a:lnSpc>
                <a:spcPct val="170000"/>
              </a:lnSpc>
            </a:pPr>
            <a:r>
              <a:rPr lang="en-US" sz="1700" b="1" dirty="0"/>
              <a:t>AWS Comprehend</a:t>
            </a:r>
            <a:r>
              <a:rPr lang="en-US" sz="1700" dirty="0"/>
              <a:t> – Performs sentiment analysis on feedback text.</a:t>
            </a:r>
          </a:p>
          <a:p>
            <a:pPr>
              <a:lnSpc>
                <a:spcPct val="170000"/>
              </a:lnSpc>
            </a:pPr>
            <a:r>
              <a:rPr lang="en-US" sz="1700" b="1" dirty="0"/>
              <a:t>Amazon </a:t>
            </a:r>
            <a:r>
              <a:rPr lang="en-US" sz="1700" b="1" dirty="0" err="1"/>
              <a:t>QuickSight</a:t>
            </a:r>
            <a:r>
              <a:rPr lang="en-US" sz="1700" dirty="0"/>
              <a:t> – Creates visualization dashboards showing trends and insights.</a:t>
            </a:r>
          </a:p>
          <a:p>
            <a:pPr>
              <a:lnSpc>
                <a:spcPct val="170000"/>
              </a:lnSpc>
            </a:pPr>
            <a:r>
              <a:rPr lang="en-US" sz="1700" b="1" dirty="0"/>
              <a:t>Amazon CloudWatch</a:t>
            </a:r>
            <a:r>
              <a:rPr lang="en-US" sz="1700" dirty="0"/>
              <a:t> – Collects performance metrics and logs.</a:t>
            </a:r>
          </a:p>
          <a:p>
            <a:pPr>
              <a:lnSpc>
                <a:spcPct val="170000"/>
              </a:lnSpc>
            </a:pPr>
            <a:r>
              <a:rPr lang="en-US" sz="1700" b="1" dirty="0"/>
              <a:t>Amazon SNS</a:t>
            </a:r>
            <a:r>
              <a:rPr lang="en-US" sz="1700" dirty="0"/>
              <a:t> – Sends notifications for scaling events and alarms.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8A4EF-E29A-08FE-67A3-C1DECE03E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FE5DDE-4946-2807-9B30-D0DB6F4D0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Networking &amp; Security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546473-3206-F77C-B299-21389E267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3FAFF50-E58C-DE2F-4241-8958D839DB52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356009" y="1394029"/>
            <a:ext cx="10688709" cy="46779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CA" sz="1400" dirty="0"/>
              <a:t>The application runs inside a dedicated VPC to ensure network isolation and security.</a:t>
            </a:r>
          </a:p>
          <a:p>
            <a:pPr>
              <a:lnSpc>
                <a:spcPct val="150000"/>
              </a:lnSpc>
            </a:pPr>
            <a:r>
              <a:rPr lang="en-CA" sz="1400" dirty="0"/>
              <a:t>Subnet Design:</a:t>
            </a:r>
          </a:p>
          <a:p>
            <a:pPr lvl="1">
              <a:lnSpc>
                <a:spcPct val="150000"/>
              </a:lnSpc>
            </a:pPr>
            <a:r>
              <a:rPr lang="en-CA" sz="1400" dirty="0"/>
              <a:t>2 Public Subnets – Host the web tier.</a:t>
            </a:r>
          </a:p>
          <a:p>
            <a:pPr lvl="1">
              <a:lnSpc>
                <a:spcPct val="150000"/>
              </a:lnSpc>
            </a:pPr>
            <a:r>
              <a:rPr lang="en-CA" sz="1400" dirty="0"/>
              <a:t>2 Private Subnets – Host the application tier.</a:t>
            </a:r>
          </a:p>
          <a:p>
            <a:pPr lvl="1">
              <a:lnSpc>
                <a:spcPct val="150000"/>
              </a:lnSpc>
            </a:pPr>
            <a:r>
              <a:rPr lang="en-CA" sz="1400" dirty="0"/>
              <a:t>2 Private Subnets – Host the database tier.</a:t>
            </a:r>
          </a:p>
          <a:p>
            <a:pPr>
              <a:lnSpc>
                <a:spcPct val="150000"/>
              </a:lnSpc>
            </a:pPr>
            <a:r>
              <a:rPr lang="en-CA" sz="1400" dirty="0"/>
              <a:t>Security Groups:</a:t>
            </a:r>
          </a:p>
          <a:p>
            <a:pPr lvl="1">
              <a:lnSpc>
                <a:spcPct val="150000"/>
              </a:lnSpc>
            </a:pPr>
            <a:r>
              <a:rPr lang="en-CA" sz="1400" dirty="0" err="1"/>
              <a:t>WebServer</a:t>
            </a:r>
            <a:r>
              <a:rPr lang="en-CA" sz="1400" dirty="0"/>
              <a:t>-SG – Allows HTTP, SSH, and HTTPS from the internet.</a:t>
            </a:r>
          </a:p>
          <a:p>
            <a:pPr lvl="1">
              <a:lnSpc>
                <a:spcPct val="150000"/>
              </a:lnSpc>
            </a:pPr>
            <a:r>
              <a:rPr lang="en-CA" sz="1400" dirty="0" err="1"/>
              <a:t>AppServer</a:t>
            </a:r>
            <a:r>
              <a:rPr lang="en-CA" sz="1400" dirty="0"/>
              <a:t>-SG – Allows HTTP traffic only from the internal ALB.</a:t>
            </a:r>
          </a:p>
          <a:p>
            <a:pPr lvl="1">
              <a:lnSpc>
                <a:spcPct val="150000"/>
              </a:lnSpc>
            </a:pPr>
            <a:r>
              <a:rPr lang="en-CA" sz="1400" dirty="0"/>
              <a:t>DB-SG – Allows MySQL traffic only from the </a:t>
            </a:r>
            <a:r>
              <a:rPr lang="en-CA" sz="1400" dirty="0" err="1"/>
              <a:t>AppServer</a:t>
            </a:r>
            <a:r>
              <a:rPr lang="en-CA" sz="1400" dirty="0"/>
              <a:t>-SG.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482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51710-B917-E443-AD8F-D45F7E75B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4029DC-D84C-227B-1104-5F26CFF92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Auto Scaling &amp; Load Balancing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8EB8F5-AD78-5733-E548-D212DC17F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59F13C-5A9A-2EB5-8C87-5B75D41E5D24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356009" y="1394029"/>
            <a:ext cx="10688709" cy="46779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The system uses </a:t>
            </a:r>
            <a:r>
              <a:rPr lang="en-US" sz="1400" b="1" dirty="0"/>
              <a:t>Auto Scaling</a:t>
            </a:r>
            <a:r>
              <a:rPr lang="en-US" sz="1400" dirty="0"/>
              <a:t> to maintain performance and optimize costs:</a:t>
            </a:r>
          </a:p>
          <a:p>
            <a:pPr lvl="1">
              <a:lnSpc>
                <a:spcPct val="150000"/>
              </a:lnSpc>
            </a:pPr>
            <a:r>
              <a:rPr lang="en-US" sz="1400" b="1" dirty="0" err="1"/>
              <a:t>WebServer</a:t>
            </a:r>
            <a:r>
              <a:rPr lang="en-US" sz="1400" b="1" dirty="0"/>
              <a:t>-ASG</a:t>
            </a:r>
            <a:r>
              <a:rPr lang="en-US" sz="1400" dirty="0"/>
              <a:t> – Launches or terminates web servers based on workload.</a:t>
            </a:r>
          </a:p>
          <a:p>
            <a:pPr lvl="1">
              <a:lnSpc>
                <a:spcPct val="150000"/>
              </a:lnSpc>
            </a:pPr>
            <a:r>
              <a:rPr lang="en-US" sz="1400" b="1" dirty="0" err="1"/>
              <a:t>AppServer</a:t>
            </a:r>
            <a:r>
              <a:rPr lang="en-US" sz="1400" b="1" dirty="0"/>
              <a:t>-ASG</a:t>
            </a:r>
            <a:r>
              <a:rPr lang="en-US" sz="1400" dirty="0"/>
              <a:t> – Scales backend application servers based on CPU usage.</a:t>
            </a:r>
          </a:p>
          <a:p>
            <a:pPr lvl="1">
              <a:lnSpc>
                <a:spcPct val="150000"/>
              </a:lnSpc>
            </a:pPr>
            <a:r>
              <a:rPr lang="en-US" sz="1400" b="1" dirty="0"/>
              <a:t>Scaling Policies</a:t>
            </a:r>
            <a:r>
              <a:rPr lang="en-US" sz="1400" dirty="0"/>
              <a:t> – Target tracking on CPU utilization ensures the right number of instances are running.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Load Balancers: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b="1" dirty="0"/>
              <a:t>Internet facing ALB</a:t>
            </a:r>
            <a:r>
              <a:rPr lang="en-US" sz="1400" dirty="0"/>
              <a:t> – Routes internet traffic to the Web Tier.</a:t>
            </a:r>
          </a:p>
          <a:p>
            <a:pPr lvl="1">
              <a:lnSpc>
                <a:spcPct val="150000"/>
              </a:lnSpc>
            </a:pPr>
            <a:r>
              <a:rPr lang="en-US" sz="1400" b="1" dirty="0"/>
              <a:t>Internal ALB</a:t>
            </a:r>
            <a:r>
              <a:rPr lang="en-US" sz="1400" dirty="0"/>
              <a:t> – Routes traffic securely to the App Tier.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Alerts: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b="1" dirty="0"/>
              <a:t>Amazon SNS</a:t>
            </a:r>
            <a:r>
              <a:rPr lang="en-US" sz="1400" dirty="0"/>
              <a:t> – Sends real-time notifications when scaling events occur.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000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798F1-946C-32FC-54D2-09D007481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B357EF-452C-9822-640E-300B33176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AWS Comprehend &amp; </a:t>
            </a:r>
            <a:r>
              <a:rPr lang="en-CA" dirty="0" err="1"/>
              <a:t>QuickSight</a:t>
            </a: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A804C5-04C5-0A37-CDF2-854709F60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256D781-36B1-2D4D-EC7C-9585F90C9928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356009" y="1394029"/>
            <a:ext cx="10688709" cy="46779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/>
              <a:t>AWS Comprehend Integration: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Detects sentiment in each feedback submission.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Classifies feedback as Positive, Negative, and Neutral,.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Integrated into the application tier backend so sentiment results are stored with the original feedback in RDS.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Amazon </a:t>
            </a:r>
            <a:r>
              <a:rPr lang="en-US" sz="1400" b="1" dirty="0" err="1"/>
              <a:t>QuickSight</a:t>
            </a:r>
            <a:r>
              <a:rPr lang="en-US" sz="1400" b="1" dirty="0"/>
              <a:t> Visualization: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Connects securely to the RDS database via VPC connection.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Displays sentiment trends, average ratings, and distribution charts in real time.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Helps identify patterns and supports data-driven decision-making.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548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67FE0-457C-655C-999A-D64804D61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3580D8-EAC4-830C-FFA8-C6FAEF05D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Monitoring &amp; Alerts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F10ED9-3761-5577-2EFC-6626F4498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F383308-5517-5C96-647F-E0803509F56B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356009" y="1394029"/>
            <a:ext cx="10688709" cy="4677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Monitoring ensures the system remains healthy and responsive.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Amazon CloudWatch</a:t>
            </a:r>
            <a:r>
              <a:rPr lang="en-US" sz="1400" dirty="0"/>
              <a:t> – Collects metrics such as CPU usage, memory, and network traffic.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CloudWatch Alarms</a:t>
            </a:r>
            <a:r>
              <a:rPr lang="en-US" sz="1400" dirty="0"/>
              <a:t> – Trigger when thresholds are exceeded, e.g., high CPU usage.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Amazon SNS</a:t>
            </a:r>
            <a:r>
              <a:rPr lang="en-US" sz="1400" dirty="0"/>
              <a:t> – Sends email notifications for scaling events or performance issues.</a:t>
            </a:r>
          </a:p>
        </p:txBody>
      </p:sp>
    </p:spTree>
    <p:extLst>
      <p:ext uri="{BB962C8B-B14F-4D97-AF65-F5344CB8AC3E}">
        <p14:creationId xmlns:p14="http://schemas.microsoft.com/office/powerpoint/2010/main" val="107482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 - https://karthikcode.com/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3F1466-65E1-5AE4-6ED5-5116A2B7C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029" y="1380266"/>
            <a:ext cx="8635042" cy="485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30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3C7F1-D085-AEED-7ECA-0843BB5EB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3F55516-4A72-EE31-6ED4-CE76C59FC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 - https://karthikcode.com/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C4889E-EDA2-04CD-C554-0FCF90671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734D49-1083-4ED1-2F31-3B0B30E8A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551" y="1348680"/>
            <a:ext cx="8522898" cy="479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494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61D0E-A3A5-1590-E146-F27F43591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17CB9A2-6063-7301-13FD-71F7D07B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 - https://karthikcode.com/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9BED1D-5AD8-E74F-E62D-D1142F978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039CEB-C208-9DFF-DCA5-CEBA4D373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757" y="1346708"/>
            <a:ext cx="8620486" cy="484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936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5BBA2-2D91-096D-D156-DB65385F1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10701B-A05B-7DBD-4050-2A27AC528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 - https://karthikcode.com/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12656B-7EBA-4047-4487-F65969DE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C74840-5948-5CED-4DA9-06B030724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986" y="1347955"/>
            <a:ext cx="8670027" cy="487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745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4384" y="2807208"/>
            <a:ext cx="8607615" cy="1243584"/>
          </a:xfrm>
        </p:spPr>
        <p:txBody>
          <a:bodyPr/>
          <a:lstStyle/>
          <a:p>
            <a:r>
              <a:rPr lang="en-US" dirty="0"/>
              <a:t>Live Demo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https://karthikcode.com/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BE624-B5A9-5B70-892B-1C99F7C70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3CCCA-40C7-CDE9-2AB3-EF388EA64F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1169807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455</TotalTime>
  <Words>681</Words>
  <Application>Microsoft Office PowerPoint</Application>
  <PresentationFormat>Widescreen</PresentationFormat>
  <Paragraphs>84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Trade Gothic LT Pro</vt:lpstr>
      <vt:lpstr>Trebuchet MS</vt:lpstr>
      <vt:lpstr>Office Theme</vt:lpstr>
      <vt:lpstr>AWS Feedback Management System - CloudZen</vt:lpstr>
      <vt:lpstr>Table of Content</vt:lpstr>
      <vt:lpstr>Introduction</vt:lpstr>
      <vt:lpstr>Architecture Diagram</vt:lpstr>
      <vt:lpstr>Architecture Diagram</vt:lpstr>
      <vt:lpstr>AWS Resources</vt:lpstr>
      <vt:lpstr>Networking &amp; Security</vt:lpstr>
      <vt:lpstr>Auto Scaling &amp; Load Balancing</vt:lpstr>
      <vt:lpstr>AWS Comprehend &amp; QuickSight</vt:lpstr>
      <vt:lpstr>Monitoring &amp; Alerts</vt:lpstr>
      <vt:lpstr>Website - https://karthikcode.com/</vt:lpstr>
      <vt:lpstr>Website - https://karthikcode.com/</vt:lpstr>
      <vt:lpstr>Website - https://karthikcode.com/</vt:lpstr>
      <vt:lpstr>Website - https://karthikcode.com/</vt:lpstr>
      <vt:lpstr>Live Demo  https://karthikcode.com/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Karthikeyan Jeyabalasuntharam</dc:creator>
  <cp:lastModifiedBy>Karthikeyan Jeyabalasuntharam</cp:lastModifiedBy>
  <cp:revision>5</cp:revision>
  <dcterms:created xsi:type="dcterms:W3CDTF">2025-08-14T13:59:13Z</dcterms:created>
  <dcterms:modified xsi:type="dcterms:W3CDTF">2025-08-14T22:08:08Z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